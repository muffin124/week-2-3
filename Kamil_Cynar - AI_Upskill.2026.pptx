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141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71450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257175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342900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28625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0" y="514350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600075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76009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152019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28028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04038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80047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6057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32066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4085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60095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36104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12114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88123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64133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140142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0" y="0"/>
            <a:ext cx="12161520" cy="3200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0" y="32004"/>
            <a:ext cx="12161520" cy="1005840"/>
          </a:xfrm>
          <a:prstGeom prst="rect">
            <a:avLst/>
          </a:prstGeom>
          <a:solidFill>
            <a:srgbClr val="0A1525"/>
          </a:solidFill>
          <a:ln w="635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01167" y="70867"/>
            <a:ext cx="5241799" cy="907542"/>
          </a:xfrm>
          <a:prstGeom prst="rect">
            <a:avLst/>
          </a:prstGeom>
          <a:solidFill>
            <a:srgbClr val="06101F"/>
          </a:solidFill>
          <a:ln w="7620">
            <a:solidFill>
              <a:srgbClr val="4A638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201168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/>
                </a:solidFill>
              </a:rPr>
              <a:t>AI UPSKILL - September 2026</a:t>
            </a:r>
          </a:p>
        </p:txBody>
      </p:sp>
      <p:sp>
        <p:nvSpPr>
          <p:cNvPr id="28" name="Text 26"/>
          <p:cNvSpPr/>
          <p:nvPr/>
        </p:nvSpPr>
        <p:spPr>
          <a:xfrm>
            <a:off x="201168" y="530352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/>
                </a:solidFill>
              </a:rPr>
              <a:t>Spendwise - Grounded AI Finance Assistant</a:t>
            </a:r>
          </a:p>
        </p:txBody>
      </p:sp>
      <p:sp>
        <p:nvSpPr>
          <p:cNvPr id="29" name="Shape 27"/>
          <p:cNvSpPr/>
          <p:nvPr/>
        </p:nvSpPr>
        <p:spPr>
          <a:xfrm>
            <a:off x="9692640" y="274320"/>
            <a:ext cx="2286000" cy="475488"/>
          </a:xfrm>
          <a:prstGeom prst="rect">
            <a:avLst/>
          </a:prstGeom>
          <a:solidFill>
            <a:srgbClr val="06101F"/>
          </a:solidFill>
          <a:ln w="1016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9692640" y="2743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/>
                </a:solidFill>
              </a:rPr>
              <a:t>3-WEEK INITIATIVE</a:t>
            </a:r>
          </a:p>
        </p:txBody>
      </p:sp>
      <p:sp>
        <p:nvSpPr>
          <p:cNvPr id="31" name="Shape 29"/>
          <p:cNvSpPr/>
          <p:nvPr/>
        </p:nvSpPr>
        <p:spPr>
          <a:xfrm>
            <a:off x="164592" y="1143000"/>
            <a:ext cx="3154680" cy="1645920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01752" y="147218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301752" y="1545336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dirty="0">
                <a:solidFill>
                  <a:schemeClr val="bg1"/>
                </a:solidFill>
              </a:rPr>
              <a:t>Kamil Cynar</a:t>
            </a:r>
          </a:p>
          <a:p>
            <a:r>
              <a:rPr dirty="0">
                <a:solidFill>
                  <a:schemeClr val="bg1"/>
                </a:solidFill>
              </a:rPr>
              <a:t>AI Engineering / Full-stack</a:t>
            </a:r>
          </a:p>
          <a:p>
            <a:endParaRPr dirty="0">
              <a:solidFill>
                <a:schemeClr val="bg1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87453" y="2931796"/>
            <a:ext cx="3154680" cy="1783080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301752" y="305409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chemeClr val="bg1"/>
                </a:solidFill>
              </a:rPr>
              <a:t>TECH STACK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01752" y="325526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283464" y="3346704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300037" y="333756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dirty="0">
                <a:solidFill>
                  <a:schemeClr val="bg1"/>
                </a:solidFill>
              </a:rPr>
              <a:t>Angular 21</a:t>
            </a:r>
          </a:p>
        </p:txBody>
      </p:sp>
      <p:sp>
        <p:nvSpPr>
          <p:cNvPr id="40" name="Shape 38"/>
          <p:cNvSpPr/>
          <p:nvPr/>
        </p:nvSpPr>
        <p:spPr>
          <a:xfrm>
            <a:off x="1257301" y="3338423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1298448" y="334670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dirty="0">
                <a:solidFill>
                  <a:schemeClr val="bg1"/>
                </a:solidFill>
              </a:rPr>
              <a:t>Node.js</a:t>
            </a:r>
          </a:p>
        </p:txBody>
      </p:sp>
      <p:sp>
        <p:nvSpPr>
          <p:cNvPr id="42" name="Shape 40"/>
          <p:cNvSpPr/>
          <p:nvPr/>
        </p:nvSpPr>
        <p:spPr>
          <a:xfrm>
            <a:off x="2253995" y="3337560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2313432" y="334670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dirty="0">
                <a:solidFill>
                  <a:schemeClr val="bg1"/>
                </a:solidFill>
              </a:rPr>
              <a:t>TypeScript</a:t>
            </a:r>
          </a:p>
        </p:txBody>
      </p:sp>
      <p:sp>
        <p:nvSpPr>
          <p:cNvPr id="44" name="Shape 42"/>
          <p:cNvSpPr/>
          <p:nvPr/>
        </p:nvSpPr>
        <p:spPr>
          <a:xfrm>
            <a:off x="283464" y="3675888"/>
            <a:ext cx="914400" cy="420624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5" name="Text 43"/>
          <p:cNvSpPr/>
          <p:nvPr/>
        </p:nvSpPr>
        <p:spPr>
          <a:xfrm>
            <a:off x="316610" y="3719321"/>
            <a:ext cx="914400" cy="29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50" dirty="0">
                <a:solidFill>
                  <a:schemeClr val="bg1"/>
                </a:solidFill>
              </a:rPr>
              <a:t>RAG / Vector Store</a:t>
            </a:r>
          </a:p>
        </p:txBody>
      </p:sp>
      <p:sp>
        <p:nvSpPr>
          <p:cNvPr id="46" name="Shape 44"/>
          <p:cNvSpPr/>
          <p:nvPr/>
        </p:nvSpPr>
        <p:spPr>
          <a:xfrm>
            <a:off x="1249299" y="3692364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7" name="Text 45"/>
          <p:cNvSpPr/>
          <p:nvPr/>
        </p:nvSpPr>
        <p:spPr>
          <a:xfrm>
            <a:off x="1298448" y="36758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dirty="0">
                <a:solidFill>
                  <a:schemeClr val="bg1"/>
                </a:solidFill>
              </a:rPr>
              <a:t>DIAL API</a:t>
            </a:r>
          </a:p>
        </p:txBody>
      </p:sp>
      <p:sp>
        <p:nvSpPr>
          <p:cNvPr id="48" name="Shape 46"/>
          <p:cNvSpPr/>
          <p:nvPr/>
        </p:nvSpPr>
        <p:spPr>
          <a:xfrm>
            <a:off x="2245423" y="3692364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9" name="Text 47"/>
          <p:cNvSpPr/>
          <p:nvPr/>
        </p:nvSpPr>
        <p:spPr>
          <a:xfrm>
            <a:off x="2313432" y="36758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dirty="0" err="1">
                <a:solidFill>
                  <a:schemeClr val="bg1"/>
                </a:solidFill>
              </a:rPr>
              <a:t>Vitest</a:t>
            </a:r>
            <a:endParaRPr sz="1100" dirty="0">
              <a:solidFill>
                <a:schemeClr val="bg1"/>
              </a:solidFill>
            </a:endParaRPr>
          </a:p>
        </p:txBody>
      </p:sp>
      <p:sp>
        <p:nvSpPr>
          <p:cNvPr id="50" name="Shape 48"/>
          <p:cNvSpPr/>
          <p:nvPr/>
        </p:nvSpPr>
        <p:spPr>
          <a:xfrm>
            <a:off x="278320" y="4139946"/>
            <a:ext cx="914400" cy="516636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1" name="Text 49"/>
          <p:cNvSpPr/>
          <p:nvPr/>
        </p:nvSpPr>
        <p:spPr>
          <a:xfrm>
            <a:off x="382495" y="4101084"/>
            <a:ext cx="914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dirty="0" err="1">
                <a:solidFill>
                  <a:schemeClr val="bg1"/>
                </a:solidFill>
              </a:rPr>
              <a:t>localStorage</a:t>
            </a:r>
            <a:endParaRPr sz="1100" dirty="0">
              <a:solidFill>
                <a:schemeClr val="bg1"/>
              </a:solidFill>
            </a:endParaRPr>
          </a:p>
        </p:txBody>
      </p:sp>
      <p:sp>
        <p:nvSpPr>
          <p:cNvPr id="52" name="Shape 50"/>
          <p:cNvSpPr/>
          <p:nvPr/>
        </p:nvSpPr>
        <p:spPr>
          <a:xfrm>
            <a:off x="164592" y="4846320"/>
            <a:ext cx="3154680" cy="1709928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301752" y="497433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/>
                </a:solidFill>
              </a:rPr>
              <a:t>BUSINESS CHALLENGES</a:t>
            </a:r>
          </a:p>
        </p:txBody>
      </p:sp>
      <p:sp>
        <p:nvSpPr>
          <p:cNvPr id="54" name="Shape 52"/>
          <p:cNvSpPr/>
          <p:nvPr/>
        </p:nvSpPr>
        <p:spPr>
          <a:xfrm>
            <a:off x="301752" y="517550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5" name="Text 53"/>
          <p:cNvSpPr/>
          <p:nvPr/>
        </p:nvSpPr>
        <p:spPr>
          <a:xfrm>
            <a:off x="301752" y="5248656"/>
            <a:ext cx="288036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  <a:defRPr sz="900">
                <a:latin typeface="Aptos"/>
              </a:defRPr>
            </a:pPr>
            <a:r>
              <a:rPr>
                <a:solidFill>
                  <a:schemeClr val="bg1"/>
                </a:solidFill>
              </a:rPr>
              <a:t>Household spending is hard to understand quickly</a:t>
            </a:r>
          </a:p>
          <a:p>
            <a:pPr>
              <a:spcAft>
                <a:spcPts val="200"/>
              </a:spcAft>
              <a:defRPr sz="900">
                <a:latin typeface="Aptos"/>
              </a:defRPr>
            </a:pPr>
            <a:r>
              <a:rPr>
                <a:solidFill>
                  <a:schemeClr val="bg1"/>
                </a:solidFill>
              </a:rPr>
              <a:t>Receipts and transactions are scattered across records</a:t>
            </a:r>
          </a:p>
          <a:p>
            <a:pPr>
              <a:spcAft>
                <a:spcPts val="200"/>
              </a:spcAft>
              <a:defRPr sz="900">
                <a:latin typeface="Aptos"/>
              </a:defRPr>
            </a:pPr>
            <a:r>
              <a:rPr>
                <a:solidFill>
                  <a:schemeClr val="bg1"/>
                </a:solidFill>
              </a:rPr>
              <a:t>AI answers must not invent totals, products, or categories</a:t>
            </a:r>
          </a:p>
          <a:p>
            <a:pPr>
              <a:spcAft>
                <a:spcPts val="200"/>
              </a:spcAft>
              <a:defRPr sz="900">
                <a:latin typeface="Aptos"/>
              </a:defRPr>
            </a:pPr>
            <a:r>
              <a:rPr>
                <a:solidFill>
                  <a:schemeClr val="bg1"/>
                </a:solidFill>
              </a:rPr>
              <a:t>A demo needs reliable validation and visible error states</a:t>
            </a:r>
          </a:p>
        </p:txBody>
      </p:sp>
      <p:sp>
        <p:nvSpPr>
          <p:cNvPr id="56" name="Shape 54"/>
          <p:cNvSpPr/>
          <p:nvPr/>
        </p:nvSpPr>
        <p:spPr>
          <a:xfrm>
            <a:off x="3483864" y="1143000"/>
            <a:ext cx="4892040" cy="960120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7" name="Text 55"/>
          <p:cNvSpPr/>
          <p:nvPr/>
        </p:nvSpPr>
        <p:spPr>
          <a:xfrm>
            <a:off x="3621024" y="1271016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58" name="Shape 56"/>
          <p:cNvSpPr/>
          <p:nvPr/>
        </p:nvSpPr>
        <p:spPr>
          <a:xfrm>
            <a:off x="3621024" y="147218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9" name="Text 57"/>
          <p:cNvSpPr/>
          <p:nvPr/>
        </p:nvSpPr>
        <p:spPr>
          <a:xfrm>
            <a:off x="3621024" y="1545336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  <a:defRPr sz="900">
                <a:latin typeface="Aptos"/>
              </a:defRPr>
            </a:pPr>
            <a:r>
              <a:rPr>
                <a:solidFill>
                  <a:schemeClr val="bg1"/>
                </a:solidFill>
              </a:rPr>
              <a:t>Spendwise is a personal finance proof of concept for household users who want a clear view of spending, income, and balance. It combines receipt scanning, manual entries, category analytics, and a read-only AI assistant that answers only from saved evidence.</a:t>
            </a:r>
          </a:p>
        </p:txBody>
      </p:sp>
      <p:sp>
        <p:nvSpPr>
          <p:cNvPr id="60" name="Shape 58"/>
          <p:cNvSpPr/>
          <p:nvPr/>
        </p:nvSpPr>
        <p:spPr>
          <a:xfrm>
            <a:off x="3483864" y="2240280"/>
            <a:ext cx="4892040" cy="4315968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1" name="Text 59"/>
          <p:cNvSpPr/>
          <p:nvPr/>
        </p:nvSpPr>
        <p:spPr>
          <a:xfrm>
            <a:off x="3621024" y="2368296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/>
                </a:solidFill>
              </a:rPr>
              <a:t>SOLUTION</a:t>
            </a:r>
          </a:p>
        </p:txBody>
      </p:sp>
      <p:sp>
        <p:nvSpPr>
          <p:cNvPr id="62" name="Shape 60"/>
          <p:cNvSpPr/>
          <p:nvPr/>
        </p:nvSpPr>
        <p:spPr>
          <a:xfrm>
            <a:off x="3621024" y="256946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4" name="Text 62"/>
          <p:cNvSpPr/>
          <p:nvPr/>
        </p:nvSpPr>
        <p:spPr>
          <a:xfrm>
            <a:off x="3648456" y="2642616"/>
            <a:ext cx="456285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sz="900" b="1" dirty="0">
              <a:solidFill>
                <a:schemeClr val="bg1"/>
              </a:solidFill>
              <a:latin typeface="Aptos Display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3648456" y="4837176"/>
            <a:ext cx="4562856" cy="0"/>
          </a:xfrm>
          <a:prstGeom prst="line">
            <a:avLst/>
          </a:prstGeom>
          <a:noFill/>
          <a:ln w="508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6" name="Text 64"/>
          <p:cNvSpPr/>
          <p:nvPr/>
        </p:nvSpPr>
        <p:spPr>
          <a:xfrm>
            <a:off x="3648456" y="4928616"/>
            <a:ext cx="456285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  <a:defRPr sz="850">
                <a:latin typeface="Aptos"/>
              </a:defRPr>
            </a:pPr>
            <a:r>
              <a:rPr>
                <a:solidFill>
                  <a:schemeClr val="bg1"/>
                </a:solidFill>
              </a:rPr>
              <a:t>Angular provides the receipt scanner, dashboard, monthly balance, category summary, and chat UI. StorageService keeps validated ExpenseRecord, FinancialTransaction, and chat history in browser localStorage. The Node.js API validates requests, builds a deterministic hashed vector index, retrieves relevant evidence, and runs Finance, Context, Pattern, Critic/Validator, and Response stages in one constrained model request. Empty, malformed, oversized, or unsupported provider responses are rejected and surfaced to the user.</a:t>
            </a:r>
          </a:p>
        </p:txBody>
      </p:sp>
      <p:sp>
        <p:nvSpPr>
          <p:cNvPr id="67" name="Shape 65"/>
          <p:cNvSpPr/>
          <p:nvPr/>
        </p:nvSpPr>
        <p:spPr>
          <a:xfrm>
            <a:off x="8540496" y="1143000"/>
            <a:ext cx="3456432" cy="5413248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8" name="Text 66"/>
          <p:cNvSpPr/>
          <p:nvPr/>
        </p:nvSpPr>
        <p:spPr>
          <a:xfrm>
            <a:off x="8677656" y="1271016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/>
                </a:solidFill>
              </a:rPr>
              <a:t>OTHERS</a:t>
            </a:r>
          </a:p>
        </p:txBody>
      </p:sp>
      <p:sp>
        <p:nvSpPr>
          <p:cNvPr id="69" name="Shape 67"/>
          <p:cNvSpPr/>
          <p:nvPr/>
        </p:nvSpPr>
        <p:spPr>
          <a:xfrm>
            <a:off x="8677656" y="147218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70" name="Shape 68"/>
          <p:cNvSpPr/>
          <p:nvPr/>
        </p:nvSpPr>
        <p:spPr>
          <a:xfrm>
            <a:off x="8677656" y="1600200"/>
            <a:ext cx="36576" cy="1143000"/>
          </a:xfrm>
          <a:prstGeom prst="rect">
            <a:avLst/>
          </a:prstGeom>
          <a:solidFill>
            <a:srgbClr val="6B28E0"/>
          </a:solidFill>
          <a:ln w="12700">
            <a:solidFill>
              <a:srgbClr val="6B28E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71" name="Text 69"/>
          <p:cNvSpPr/>
          <p:nvPr/>
        </p:nvSpPr>
        <p:spPr>
          <a:xfrm>
            <a:off x="8796528" y="169164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/>
                </a:solidFill>
              </a:rPr>
              <a:t>IMPACT</a:t>
            </a:r>
          </a:p>
        </p:txBody>
      </p:sp>
      <p:sp>
        <p:nvSpPr>
          <p:cNvPr id="72" name="Text 70"/>
          <p:cNvSpPr/>
          <p:nvPr/>
        </p:nvSpPr>
        <p:spPr>
          <a:xfrm>
            <a:off x="8796528" y="1911096"/>
            <a:ext cx="304495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  <a:defRPr sz="850"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Delivered a working end-to-end finance assistant PoC.</a:t>
            </a:r>
          </a:p>
          <a:p>
            <a:pPr>
              <a:spcAft>
                <a:spcPts val="200"/>
              </a:spcAft>
              <a:defRPr sz="850"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Receipt totals are checked against item price x quantity.</a:t>
            </a:r>
          </a:p>
          <a:p>
            <a:pPr>
              <a:spcAft>
                <a:spcPts val="200"/>
              </a:spcAft>
              <a:defRPr sz="850"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Current-month balance and spending categories are visible.</a:t>
            </a:r>
          </a:p>
          <a:p>
            <a:pPr>
              <a:spcAft>
                <a:spcPts val="200"/>
              </a:spcAft>
              <a:defRPr sz="850"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API and frontend guardrails protect reliability and trust.</a:t>
            </a:r>
          </a:p>
        </p:txBody>
      </p:sp>
      <p:sp>
        <p:nvSpPr>
          <p:cNvPr id="73" name="Shape 71"/>
          <p:cNvSpPr/>
          <p:nvPr/>
        </p:nvSpPr>
        <p:spPr>
          <a:xfrm>
            <a:off x="8677656" y="2834640"/>
            <a:ext cx="3182112" cy="0"/>
          </a:xfrm>
          <a:prstGeom prst="line">
            <a:avLst/>
          </a:prstGeom>
          <a:noFill/>
          <a:ln w="508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74" name="Shape 72"/>
          <p:cNvSpPr/>
          <p:nvPr/>
        </p:nvSpPr>
        <p:spPr>
          <a:xfrm>
            <a:off x="8677656" y="2926080"/>
            <a:ext cx="36576" cy="11430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75" name="Text 73"/>
          <p:cNvSpPr/>
          <p:nvPr/>
        </p:nvSpPr>
        <p:spPr>
          <a:xfrm>
            <a:off x="8796528" y="301752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/>
                </a:solidFill>
              </a:rPr>
              <a:t>LEARNINGS</a:t>
            </a:r>
          </a:p>
        </p:txBody>
      </p:sp>
      <p:sp>
        <p:nvSpPr>
          <p:cNvPr id="76" name="Text 74"/>
          <p:cNvSpPr/>
          <p:nvPr/>
        </p:nvSpPr>
        <p:spPr>
          <a:xfrm>
            <a:off x="8796528" y="3236976"/>
            <a:ext cx="304495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  <a:defRPr sz="850">
                <a:latin typeface="Aptos"/>
              </a:defRPr>
            </a:pPr>
            <a:r>
              <a:rPr>
                <a:solidFill>
                  <a:schemeClr val="bg1"/>
                </a:solidFill>
              </a:rPr>
              <a:t>Grounding requires both retrieval and deterministic validation.</a:t>
            </a:r>
          </a:p>
          <a:p>
            <a:pPr>
              <a:spcAft>
                <a:spcPts val="200"/>
              </a:spcAft>
              <a:defRPr sz="850">
                <a:latin typeface="Aptos"/>
              </a:defRPr>
            </a:pPr>
            <a:r>
              <a:rPr>
                <a:solidFill>
                  <a:schemeClr val="bg1"/>
                </a:solidFill>
              </a:rPr>
              <a:t>Keeping secrets server-side is essential for a safe demo.</a:t>
            </a:r>
          </a:p>
          <a:p>
            <a:pPr>
              <a:spcAft>
                <a:spcPts val="200"/>
              </a:spcAft>
              <a:defRPr sz="850">
                <a:latin typeface="Aptos"/>
              </a:defRPr>
            </a:pPr>
            <a:r>
              <a:rPr>
                <a:solidFill>
                  <a:schemeClr val="bg1"/>
                </a:solidFill>
              </a:rPr>
              <a:t>Explicit error states are better than silent UI failures.</a:t>
            </a:r>
          </a:p>
          <a:p>
            <a:pPr>
              <a:spcAft>
                <a:spcPts val="200"/>
              </a:spcAft>
              <a:defRPr sz="850">
                <a:latin typeface="Aptos"/>
              </a:defRPr>
            </a:pPr>
            <a:r>
              <a:rPr>
                <a:solidFill>
                  <a:schemeClr val="bg1"/>
                </a:solidFill>
              </a:rPr>
              <a:t>An SDD with acceptance scenarios makes corrections testable.</a:t>
            </a:r>
          </a:p>
        </p:txBody>
      </p:sp>
      <p:sp>
        <p:nvSpPr>
          <p:cNvPr id="77" name="Shape 75"/>
          <p:cNvSpPr/>
          <p:nvPr/>
        </p:nvSpPr>
        <p:spPr>
          <a:xfrm>
            <a:off x="8677656" y="4160520"/>
            <a:ext cx="3182112" cy="0"/>
          </a:xfrm>
          <a:prstGeom prst="line">
            <a:avLst/>
          </a:prstGeom>
          <a:noFill/>
          <a:ln w="508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78" name="Shape 76"/>
          <p:cNvSpPr/>
          <p:nvPr/>
        </p:nvSpPr>
        <p:spPr>
          <a:xfrm>
            <a:off x="8677656" y="4251960"/>
            <a:ext cx="36576" cy="11430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79" name="Text 77"/>
          <p:cNvSpPr/>
          <p:nvPr/>
        </p:nvSpPr>
        <p:spPr>
          <a:xfrm>
            <a:off x="8796528" y="434340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/>
                </a:solidFill>
              </a:rPr>
              <a:t>NEXT STEPS</a:t>
            </a:r>
          </a:p>
        </p:txBody>
      </p:sp>
      <p:sp>
        <p:nvSpPr>
          <p:cNvPr id="80" name="Text 78"/>
          <p:cNvSpPr/>
          <p:nvPr/>
        </p:nvSpPr>
        <p:spPr>
          <a:xfrm>
            <a:off x="8796528" y="4562856"/>
            <a:ext cx="304495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  <a:defRPr sz="850">
                <a:latin typeface="Aptos"/>
              </a:defRPr>
            </a:pPr>
            <a:r>
              <a:rPr>
                <a:solidFill>
                  <a:schemeClr val="bg1"/>
                </a:solidFill>
              </a:rPr>
              <a:t>Add persistent multi-user storage and authentication.</a:t>
            </a:r>
          </a:p>
          <a:p>
            <a:pPr>
              <a:spcAft>
                <a:spcPts val="200"/>
              </a:spcAft>
              <a:defRPr sz="850">
                <a:latin typeface="Aptos"/>
              </a:defRPr>
            </a:pPr>
            <a:r>
              <a:rPr>
                <a:solidFill>
                  <a:schemeClr val="bg1"/>
                </a:solidFill>
              </a:rPr>
              <a:t>Replace the in-memory vector index with a production vector database.</a:t>
            </a:r>
          </a:p>
          <a:p>
            <a:pPr>
              <a:spcAft>
                <a:spcPts val="200"/>
              </a:spcAft>
              <a:defRPr sz="850">
                <a:latin typeface="Aptos"/>
              </a:defRPr>
            </a:pPr>
            <a:r>
              <a:rPr>
                <a:solidFill>
                  <a:schemeClr val="bg1"/>
                </a:solidFill>
              </a:rPr>
              <a:t>Add budgets, alerts, and richer period comparisons.</a:t>
            </a:r>
          </a:p>
          <a:p>
            <a:pPr>
              <a:spcAft>
                <a:spcPts val="200"/>
              </a:spcAft>
              <a:defRPr sz="850">
                <a:latin typeface="Aptos"/>
              </a:defRPr>
            </a:pPr>
            <a:r>
              <a:rPr>
                <a:solidFill>
                  <a:schemeClr val="bg1"/>
                </a:solidFill>
              </a:rPr>
              <a:t>Split orchestration stages into independently observable agents.</a:t>
            </a:r>
          </a:p>
        </p:txBody>
      </p:sp>
      <p:sp>
        <p:nvSpPr>
          <p:cNvPr id="81" name="Shape 79"/>
          <p:cNvSpPr/>
          <p:nvPr/>
        </p:nvSpPr>
        <p:spPr>
          <a:xfrm>
            <a:off x="8677656" y="5623560"/>
            <a:ext cx="3182112" cy="0"/>
          </a:xfrm>
          <a:prstGeom prst="line">
            <a:avLst/>
          </a:prstGeom>
          <a:noFill/>
          <a:ln w="508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2" name="Text 80"/>
          <p:cNvSpPr/>
          <p:nvPr/>
        </p:nvSpPr>
        <p:spPr>
          <a:xfrm>
            <a:off x="8796528" y="5742432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/>
                </a:solidFill>
              </a:rPr>
              <a:t>ADDITIONAL NOTES</a:t>
            </a:r>
          </a:p>
        </p:txBody>
      </p:sp>
      <p:sp>
        <p:nvSpPr>
          <p:cNvPr id="83" name="Text 81"/>
          <p:cNvSpPr/>
          <p:nvPr/>
        </p:nvSpPr>
        <p:spPr>
          <a:xfrm>
            <a:off x="8796528" y="5980176"/>
            <a:ext cx="3044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  <a:defRPr sz="850">
                <a:latin typeface="Aptos"/>
              </a:defRPr>
            </a:pPr>
            <a:r>
              <a:rPr>
                <a:solidFill>
                  <a:schemeClr val="bg1"/>
                </a:solidFill>
              </a:rPr>
              <a:t>Architecture diagram: docs/Spendwise Architecture.svg</a:t>
            </a:r>
          </a:p>
          <a:p>
            <a:pPr>
              <a:spcAft>
                <a:spcPts val="200"/>
              </a:spcAft>
              <a:defRPr sz="850">
                <a:latin typeface="Aptos"/>
              </a:defRPr>
            </a:pPr>
            <a:r>
              <a:rPr>
                <a:solidFill>
                  <a:schemeClr val="bg1"/>
                </a:solidFill>
              </a:rPr>
              <a:t>API: /health, /api/ai/chat, /api/receipts/analyze</a:t>
            </a:r>
          </a:p>
          <a:p>
            <a:pPr>
              <a:spcAft>
                <a:spcPts val="200"/>
              </a:spcAft>
              <a:defRPr sz="850">
                <a:latin typeface="Aptos"/>
              </a:defRPr>
            </a:pPr>
            <a:r>
              <a:rPr>
                <a:solidFill>
                  <a:schemeClr val="bg1"/>
                </a:solidFill>
              </a:rPr>
              <a:t>Quality gates: 8 frontend tests passing; Angular and backend builds passing.</a:t>
            </a:r>
          </a:p>
        </p:txBody>
      </p:sp>
      <p:sp>
        <p:nvSpPr>
          <p:cNvPr id="84" name="Shape 82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1525"/>
          </a:solidFill>
          <a:ln w="508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6" name="Text 84"/>
          <p:cNvSpPr/>
          <p:nvPr/>
        </p:nvSpPr>
        <p:spPr>
          <a:xfrm>
            <a:off x="9966960" y="661111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88" name="Shape 48">
            <a:extLst>
              <a:ext uri="{FF2B5EF4-FFF2-40B4-BE49-F238E27FC236}">
                <a16:creationId xmlns:a16="http://schemas.microsoft.com/office/drawing/2014/main" id="{BA71139F-6A81-1CC2-A46B-20A4D0D38BE3}"/>
              </a:ext>
            </a:extLst>
          </p:cNvPr>
          <p:cNvSpPr/>
          <p:nvPr/>
        </p:nvSpPr>
        <p:spPr>
          <a:xfrm>
            <a:off x="1255013" y="3992348"/>
            <a:ext cx="914400" cy="51197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0" name="Text 49">
            <a:extLst>
              <a:ext uri="{FF2B5EF4-FFF2-40B4-BE49-F238E27FC236}">
                <a16:creationId xmlns:a16="http://schemas.microsoft.com/office/drawing/2014/main" id="{732C805F-48DE-AEB5-D57A-B21912A19F67}"/>
              </a:ext>
            </a:extLst>
          </p:cNvPr>
          <p:cNvSpPr/>
          <p:nvPr/>
        </p:nvSpPr>
        <p:spPr>
          <a:xfrm>
            <a:off x="1332739" y="412851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dirty="0">
                <a:solidFill>
                  <a:schemeClr val="bg1"/>
                </a:solidFill>
              </a:rPr>
              <a:t>Angular + Node.js</a:t>
            </a:r>
          </a:p>
        </p:txBody>
      </p:sp>
      <p:pic>
        <p:nvPicPr>
          <p:cNvPr id="85" name="Grafika 84">
            <a:extLst>
              <a:ext uri="{FF2B5EF4-FFF2-40B4-BE49-F238E27FC236}">
                <a16:creationId xmlns:a16="http://schemas.microsoft.com/office/drawing/2014/main" id="{EF73178A-2023-4557-797C-B639CD9508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5616" y="2660903"/>
            <a:ext cx="4192249" cy="21305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373</Words>
  <Application>Microsoft Office PowerPoint</Application>
  <PresentationFormat>Panoramiczny</PresentationFormat>
  <Paragraphs>45</Paragraphs>
  <Slides>1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</vt:i4>
      </vt:variant>
    </vt:vector>
  </HeadingPairs>
  <TitlesOfParts>
    <vt:vector size="4" baseType="lpstr">
      <vt:lpstr>Aptos Display</vt:lpstr>
      <vt:lpstr>Arial</vt:lpstr>
      <vt:lpstr>Office Theme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Kamil Cynar</cp:lastModifiedBy>
  <cp:revision>3</cp:revision>
  <dcterms:created xsi:type="dcterms:W3CDTF">2026-04-23T17:39:49Z</dcterms:created>
  <dcterms:modified xsi:type="dcterms:W3CDTF">2026-09-21T08:55:46Z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535040-0af2-483f-adc3-a132c21e3e2b_Enabled">
    <vt:lpwstr>true</vt:lpwstr>
  </property>
  <property fmtid="{D5CDD505-2E9C-101B-9397-08002B2CF9AE}" pid="3" name="MSIP_Label_2a535040-0af2-483f-adc3-a132c21e3e2b_SetDate">
    <vt:lpwstr>2026-04-23T18:24:49Z</vt:lpwstr>
  </property>
  <property fmtid="{D5CDD505-2E9C-101B-9397-08002B2CF9AE}" pid="4" name="MSIP_Label_2a535040-0af2-483f-adc3-a132c21e3e2b_Method">
    <vt:lpwstr>Standard</vt:lpwstr>
  </property>
  <property fmtid="{D5CDD505-2E9C-101B-9397-08002B2CF9AE}" pid="5" name="MSIP_Label_2a535040-0af2-483f-adc3-a132c21e3e2b_Name">
    <vt:lpwstr>EPAM_Confidential</vt:lpwstr>
  </property>
  <property fmtid="{D5CDD505-2E9C-101B-9397-08002B2CF9AE}" pid="6" name="MSIP_Label_2a535040-0af2-483f-adc3-a132c21e3e2b_SiteId">
    <vt:lpwstr>b41b72d0-4e9f-4c26-8a69-f949f367c91d</vt:lpwstr>
  </property>
  <property fmtid="{D5CDD505-2E9C-101B-9397-08002B2CF9AE}" pid="7" name="MSIP_Label_2a535040-0af2-483f-adc3-a132c21e3e2b_ActionId">
    <vt:lpwstr>8989d48e-950a-4fe5-ab54-11814b72000a</vt:lpwstr>
  </property>
  <property fmtid="{D5CDD505-2E9C-101B-9397-08002B2CF9AE}" pid="8" name="MSIP_Label_2a535040-0af2-483f-adc3-a132c21e3e2b_ContentBits">
    <vt:lpwstr>0</vt:lpwstr>
  </property>
  <property fmtid="{D5CDD505-2E9C-101B-9397-08002B2CF9AE}" pid="9" name="MSIP_Label_2a535040-0af2-483f-adc3-a132c21e3e2b_Tag">
    <vt:lpwstr>10, 3, 0, 1</vt:lpwstr>
  </property>
</Properties>
</file>